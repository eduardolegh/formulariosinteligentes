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d32feeb68de4248" /><Relationship Type="http://schemas.openxmlformats.org/officeDocument/2006/relationships/extended-properties" Target="/docProps/app.xml" Id="R31a1be15dc3c4ce7" /><Relationship Type="http://schemas.openxmlformats.org/officeDocument/2006/relationships/officeDocument" Target="/ppt/presentation.xml" Id="R92d7b4469b6a47c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f012b0b3bf244ec"/>
  </p:sldMasterIdLst>
  <p:notesMasterIdLst>
    <p:notesMasterId xmlns:r="http://schemas.openxmlformats.org/officeDocument/2006/relationships" r:id="R9f3bd4d07be3467c"/>
  </p:notesMasterIdLst>
  <p:sldIdLst>
    <p:sldId xmlns:r="http://schemas.openxmlformats.org/officeDocument/2006/relationships" id="256" r:id="R6bdc91086693451a"/>
    <p:sldId xmlns:r="http://schemas.openxmlformats.org/officeDocument/2006/relationships" id="257" r:id="R259f5ad49bc84b83"/>
    <p:sldId xmlns:r="http://schemas.openxmlformats.org/officeDocument/2006/relationships" id="258" r:id="Rdac9ccd9dcd34e0e"/>
    <p:sldId xmlns:r="http://schemas.openxmlformats.org/officeDocument/2006/relationships" id="259" r:id="R52b34a50f72c4e67"/>
    <p:sldId xmlns:r="http://schemas.openxmlformats.org/officeDocument/2006/relationships" id="260" r:id="R1053ace14c34422c"/>
    <p:sldId xmlns:r="http://schemas.openxmlformats.org/officeDocument/2006/relationships" id="261" r:id="R45b8231df7ed4f02"/>
    <p:sldId xmlns:r="http://schemas.openxmlformats.org/officeDocument/2006/relationships" id="262" r:id="Ra93ae2658b334a62"/>
    <p:sldId xmlns:r="http://schemas.openxmlformats.org/officeDocument/2006/relationships" id="263" r:id="R70bd434031ff4006"/>
    <p:sldId xmlns:r="http://schemas.openxmlformats.org/officeDocument/2006/relationships" id="264" r:id="R8ed66fb7dc224519"/>
    <p:sldId xmlns:r="http://schemas.openxmlformats.org/officeDocument/2006/relationships" id="265" r:id="Rc5e0471288a846e4"/>
    <p:sldId xmlns:r="http://schemas.openxmlformats.org/officeDocument/2006/relationships" id="266" r:id="R840feabb8f7a4f4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7c2e79679864e0d" /><Relationship Type="http://schemas.openxmlformats.org/officeDocument/2006/relationships/slideMaster" Target="/ppt/slideMasters/slideMaster1.xml" Id="R9f012b0b3bf244ec" /><Relationship Type="http://schemas.openxmlformats.org/officeDocument/2006/relationships/notesMaster" Target="/ppt/notesMasters/notesMaster1.xml" Id="R9f3bd4d07be3467c" /><Relationship Type="http://schemas.openxmlformats.org/officeDocument/2006/relationships/presProps" Target="/ppt/presProps.xml" Id="R6c7489cdb8524435" /><Relationship Type="http://schemas.openxmlformats.org/officeDocument/2006/relationships/tableStyles" Target="/ppt/tableStyles.xml" Id="R3a518fbc18594820" /><Relationship Type="http://schemas.openxmlformats.org/officeDocument/2006/relationships/slide" Target="/ppt/slides/slide1.xml" Id="R6bdc91086693451a" /><Relationship Type="http://schemas.openxmlformats.org/officeDocument/2006/relationships/slide" Target="/ppt/slides/slide2.xml" Id="R259f5ad49bc84b83" /><Relationship Type="http://schemas.openxmlformats.org/officeDocument/2006/relationships/slide" Target="/ppt/slides/slide3.xml" Id="Rdac9ccd9dcd34e0e" /><Relationship Type="http://schemas.openxmlformats.org/officeDocument/2006/relationships/slide" Target="/ppt/slides/slide4.xml" Id="R52b34a50f72c4e67" /><Relationship Type="http://schemas.openxmlformats.org/officeDocument/2006/relationships/slide" Target="/ppt/slides/slide5.xml" Id="R1053ace14c34422c" /><Relationship Type="http://schemas.openxmlformats.org/officeDocument/2006/relationships/slide" Target="/ppt/slides/slide6.xml" Id="R45b8231df7ed4f02" /><Relationship Type="http://schemas.openxmlformats.org/officeDocument/2006/relationships/slide" Target="/ppt/slides/slide7.xml" Id="Ra93ae2658b334a62" /><Relationship Type="http://schemas.openxmlformats.org/officeDocument/2006/relationships/slide" Target="/ppt/slides/slide8.xml" Id="R70bd434031ff4006" /><Relationship Type="http://schemas.openxmlformats.org/officeDocument/2006/relationships/slide" Target="/ppt/slides/slide9.xml" Id="R8ed66fb7dc224519" /><Relationship Type="http://schemas.openxmlformats.org/officeDocument/2006/relationships/slide" Target="/ppt/slides/slide10.xml" Id="Rc5e0471288a846e4" /><Relationship Type="http://schemas.openxmlformats.org/officeDocument/2006/relationships/slide" Target="/ppt/slides/slide11.xml" Id="R840feabb8f7a4f4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e6ad81329644c2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3e13cb0f3cd40a1" /><Relationship Type="http://schemas.openxmlformats.org/officeDocument/2006/relationships/notesMaster" Target="/ppt/notesMasters/notesMaster1.xml" Id="Ra09411afdd17488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122ba74280c468c" /><Relationship Type="http://schemas.openxmlformats.org/officeDocument/2006/relationships/notesMaster" Target="/ppt/notesMasters/notesMaster1.xml" Id="R8ae644a02d1a4ee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50a6c4ed85d465d" /><Relationship Type="http://schemas.openxmlformats.org/officeDocument/2006/relationships/notesMaster" Target="/ppt/notesMasters/notesMaster1.xml" Id="Rc287eded99814ab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6383d819c6b4801" /><Relationship Type="http://schemas.openxmlformats.org/officeDocument/2006/relationships/notesMaster" Target="/ppt/notesMasters/notesMaster1.xml" Id="Rc057dfb9ec4b408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29c038dea874bd0" /><Relationship Type="http://schemas.openxmlformats.org/officeDocument/2006/relationships/notesMaster" Target="/ppt/notesMasters/notesMaster1.xml" Id="R4f392ccf2509447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a68d0c5071d4b2b" /><Relationship Type="http://schemas.openxmlformats.org/officeDocument/2006/relationships/notesMaster" Target="/ppt/notesMasters/notesMaster1.xml" Id="R16252270301e498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6bce48410184483" /><Relationship Type="http://schemas.openxmlformats.org/officeDocument/2006/relationships/notesMaster" Target="/ppt/notesMasters/notesMaster1.xml" Id="Raaded4d0dd1d491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2b6ea9b74fa45b0" /><Relationship Type="http://schemas.openxmlformats.org/officeDocument/2006/relationships/notesMaster" Target="/ppt/notesMasters/notesMaster1.xml" Id="R2389d01d8022435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22fee2dd9d842b5" /><Relationship Type="http://schemas.openxmlformats.org/officeDocument/2006/relationships/notesMaster" Target="/ppt/notesMasters/notesMaster1.xml" Id="Ra3bcd72f8a42409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8900e24529248ed" /><Relationship Type="http://schemas.openxmlformats.org/officeDocument/2006/relationships/notesMaster" Target="/ppt/notesMasters/notesMaster1.xml" Id="Re25aa504f4994aa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cba2869918144b7" /><Relationship Type="http://schemas.openxmlformats.org/officeDocument/2006/relationships/notesMaster" Target="/ppt/notesMasters/notesMaster1.xml" Id="R9497275731394f9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fdecc7cd967409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1504b6629cf44ff" /><Relationship Type="http://schemas.openxmlformats.org/officeDocument/2006/relationships/slideLayout" Target="/ppt/slideLayouts/slideLayout1.xml" Id="R92c157e19eb749f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2c157e19eb749f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8c5e3d71ca4ce4" /><Relationship Type="http://schemas.openxmlformats.org/officeDocument/2006/relationships/notesSlide" Target="/ppt/notesSlides/notesSlide1.xml" Id="R46d4de95d2be400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fa03839b174a11" /><Relationship Type="http://schemas.openxmlformats.org/officeDocument/2006/relationships/notesSlide" Target="/ppt/notesSlides/notesSlide2.xml" Id="Re320b4f1e8a24d7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fd1fad960f4005" /><Relationship Type="http://schemas.openxmlformats.org/officeDocument/2006/relationships/notesSlide" Target="/ppt/notesSlides/notesSlide3.xml" Id="R8c5fe557a8d5409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73bef81ff44a4d" /><Relationship Type="http://schemas.openxmlformats.org/officeDocument/2006/relationships/notesSlide" Target="/ppt/notesSlides/notesSlide4.xml" Id="R0c2bd9c81542402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4e89f8f77c47b3" /><Relationship Type="http://schemas.openxmlformats.org/officeDocument/2006/relationships/notesSlide" Target="/ppt/notesSlides/notesSlide5.xml" Id="Rd51710ba8f464d4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cb24e2a98549be" /><Relationship Type="http://schemas.openxmlformats.org/officeDocument/2006/relationships/notesSlide" Target="/ppt/notesSlides/notesSlide6.xml" Id="Rcc5b2cd2972348e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416f93a42a4f98" /><Relationship Type="http://schemas.openxmlformats.org/officeDocument/2006/relationships/notesSlide" Target="/ppt/notesSlides/notesSlide7.xml" Id="R63fc0c607048418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97ebc240564ada" /><Relationship Type="http://schemas.openxmlformats.org/officeDocument/2006/relationships/notesSlide" Target="/ppt/notesSlides/notesSlide8.xml" Id="Radc5a29727ef4b3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f5cfcded8e41c9" /><Relationship Type="http://schemas.openxmlformats.org/officeDocument/2006/relationships/notesSlide" Target="/ppt/notesSlides/notesSlide9.xml" Id="Rd87ba4b6c44a48c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ef4fa1d7a14efe" /><Relationship Type="http://schemas.openxmlformats.org/officeDocument/2006/relationships/notesSlide" Target="/ppt/notesSlides/notesSlide10.xml" Id="Rc73f60b5e80c4b8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97cdaff95f4e84" /><Relationship Type="http://schemas.openxmlformats.org/officeDocument/2006/relationships/notesSlide" Target="/ppt/notesSlides/notesSlide11.xml" Id="Ra7b0d8f8101a45f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1193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A0D075-78F0-474E-908C-DBEE502E3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19250"/>
            <a:ext cx="6667500" cy="1238250"/>
          </a:xfrm>
          <a:prstGeom xmlns:a="http://schemas.openxmlformats.org/drawingml/2006/main" prst="roundRect">
            <a:avLst>
              <a:gd name="adj" fmla="val 6154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096"/>
          </a:bodyPr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FORMULARIOS</a:t>
            </a:r>
          </a:p>
          <a:p xmlns:a="http://schemas.openxmlformats.org/drawingml/2006/main">
            <a:pPr>
              <a:defRPr sz="4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INTELIGENTES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B0442B-9495-4C36-B98F-72075F7EB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6858000" cy="762000"/>
          </a:xfrm>
          <a:prstGeom xmlns:a="http://schemas.openxmlformats.org/drawingml/2006/main" prst="roundRect">
            <a:avLst>
              <a:gd name="adj" fmla="val 10000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C9D4E8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C9D4E8"/>
                </a:solidFill>
                <a:latin typeface="Aptos"/>
                <a:ea typeface="Aptos"/>
                <a:cs typeface="Aptos"/>
              </a:rPr>
              <a:t>Plataforma low-code para crear, responder y revisar formularios empresariales con apoyo de inteligencia artificial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275C96-0BEC-495E-8F02-F13E521EA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10250"/>
            <a:ext cx="4762500" cy="238125"/>
          </a:xfrm>
          <a:prstGeom xmlns:a="http://schemas.openxmlformats.org/drawingml/2006/main" prst="roundRect">
            <a:avLst>
              <a:gd name="adj" fmla="val 32000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9521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9FB0C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FB0C9"/>
                </a:solidFill>
                <a:latin typeface="Aptos"/>
                <a:ea typeface="Aptos"/>
                <a:cs typeface="Aptos"/>
              </a:rPr>
              <a:t>Proyecto final universitario · Septiembre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B4980B-E4A2-4461-8DC3-A0EED0CB3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095500"/>
            <a:ext cx="952500" cy="952500"/>
          </a:xfrm>
          <a:prstGeom xmlns:a="http://schemas.openxmlformats.org/drawingml/2006/main" prst="roundRect">
            <a:avLst>
              <a:gd name="adj" fmla="val 8000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5250" b="1">
                <a:solidFill>
                  <a:srgbClr val="A994FF"/>
                </a:solidFill>
                <a:latin typeface="Aptos"/>
                <a:ea typeface="Aptos"/>
                <a:cs typeface="Aptos"/>
              </a:defRPr>
            </a:pPr>
            <a:r>
              <a:rPr sz="5250" b="1">
                <a:solidFill>
                  <a:srgbClr val="A994FF"/>
                </a:solidFill>
                <a:latin typeface="Aptos"/>
                <a:ea typeface="Aptos"/>
                <a:cs typeface="Aptos"/>
              </a:rPr>
              <a:t>✦</a:t>
            </a:r>
          </a:p>
        </p:txBody>
      </p:sp>
    </p:spTree>
    <p:extLst>
      <p:ext uri="{BB962C8B-B14F-4D97-AF65-F5344CB8AC3E}">
        <p14:creationId xmlns:p14="http://schemas.microsoft.com/office/powerpoint/2010/main" val="66002699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3F8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D1E460-D587-4702-8298-40B0CA280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47F9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47F95"/>
                </a:solidFill>
                <a:latin typeface="Aptos"/>
                <a:ea typeface="Aptos"/>
                <a:cs typeface="Aptos"/>
              </a:rPr>
              <a:t>FORMULARIOS INTELIGENTES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5D73AE-939E-40E0-B109-73707C580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213D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7213D"/>
                </a:solidFill>
                <a:latin typeface="Aptos Display"/>
                <a:ea typeface="Aptos Display"/>
                <a:cs typeface="Aptos Display"/>
              </a:rPr>
              <a:t>Agenda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6ECA81-2705-4F60-BD10-AE1C9B8F6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09750"/>
            <a:ext cx="8096250" cy="3048000"/>
          </a:xfrm>
          <a:prstGeom xmlns:a="http://schemas.openxmlformats.org/drawingml/2006/main" prst="roundRect">
            <a:avLst>
              <a:gd name="adj" fmla="val 2500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213D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17213D"/>
                </a:solidFill>
                <a:latin typeface="Aptos"/>
                <a:ea typeface="Aptos"/>
                <a:cs typeface="Aptos"/>
              </a:rPr>
              <a:t>01  Problema y oportunidad</a:t>
            </a:r>
          </a:p>
          <a:p xmlns:a="http://schemas.openxmlformats.org/drawingml/2006/main">
            <a:pPr>
              <a:defRPr sz="2100" b="0">
                <a:solidFill>
                  <a:srgbClr val="17213D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17213D"/>
                </a:solidFill>
                <a:latin typeface="Aptos"/>
                <a:ea typeface="Aptos"/>
                <a:cs typeface="Aptos"/>
              </a:rPr>
              <a:t>02  Solución implementada</a:t>
            </a:r>
          </a:p>
          <a:p xmlns:a="http://schemas.openxmlformats.org/drawingml/2006/main">
            <a:pPr>
              <a:defRPr sz="2100" b="0">
                <a:solidFill>
                  <a:srgbClr val="17213D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17213D"/>
                </a:solidFill>
                <a:latin typeface="Aptos"/>
                <a:ea typeface="Aptos"/>
                <a:cs typeface="Aptos"/>
              </a:rPr>
              <a:t>03  Arquitectura y seguridad</a:t>
            </a:r>
          </a:p>
          <a:p xmlns:a="http://schemas.openxmlformats.org/drawingml/2006/main">
            <a:pPr>
              <a:defRPr sz="2100" b="0">
                <a:solidFill>
                  <a:srgbClr val="17213D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17213D"/>
                </a:solidFill>
                <a:latin typeface="Aptos"/>
                <a:ea typeface="Aptos"/>
                <a:cs typeface="Aptos"/>
              </a:rPr>
              <a:t>04  IA para crear formularios</a:t>
            </a:r>
          </a:p>
          <a:p xmlns:a="http://schemas.openxmlformats.org/drawingml/2006/main">
            <a:pPr>
              <a:defRPr sz="2100" b="0">
                <a:solidFill>
                  <a:srgbClr val="17213D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17213D"/>
                </a:solidFill>
                <a:latin typeface="Aptos"/>
                <a:ea typeface="Aptos"/>
                <a:cs typeface="Aptos"/>
              </a:rPr>
              <a:t>05  Roles, revisión y respuestas</a:t>
            </a:r>
          </a:p>
          <a:p xmlns:a="http://schemas.openxmlformats.org/drawingml/2006/main">
            <a:pPr>
              <a:defRPr sz="2100" b="0">
                <a:solidFill>
                  <a:srgbClr val="17213D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17213D"/>
                </a:solidFill>
                <a:latin typeface="Aptos"/>
                <a:ea typeface="Aptos"/>
                <a:cs typeface="Aptos"/>
              </a:rPr>
              <a:t>06  Comparación y siguientes pasos</a:t>
            </a:r>
          </a:p>
        </p:txBody>
      </p:sp>
    </p:spTree>
    <p:extLst>
      <p:ext uri="{BB962C8B-B14F-4D97-AF65-F5344CB8AC3E}">
        <p14:creationId xmlns:p14="http://schemas.microsoft.com/office/powerpoint/2010/main" val="155328179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3F8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0334D0-FE7F-4A4D-BB75-FF1D4F387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47F9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47F95"/>
                </a:solidFill>
                <a:latin typeface="Aptos"/>
                <a:ea typeface="Aptos"/>
                <a:cs typeface="Aptos"/>
              </a:rPr>
              <a:t>FORMULARIOS INTELIGENTES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BD1DC5-3B97-4E93-B86E-046A8547E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213D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7213D"/>
                </a:solidFill>
                <a:latin typeface="Aptos Display"/>
                <a:ea typeface="Aptos Display"/>
                <a:cs typeface="Aptos Display"/>
              </a:rPr>
              <a:t>El trabajo administrativo necesita más trazabilidad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389A8C-D94F-4990-BAAA-74A01585E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4762500" cy="666750"/>
          </a:xfrm>
          <a:prstGeom xmlns:a="http://schemas.openxmlformats.org/drawingml/2006/main" prst="roundRect">
            <a:avLst>
              <a:gd name="adj" fmla="val 11429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546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213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7213D"/>
                </a:solidFill>
                <a:latin typeface="Aptos"/>
                <a:ea typeface="Aptos"/>
                <a:cs typeface="Aptos"/>
              </a:rPr>
              <a:t>Los equipos construyen formularios manualmente y revisan respuestas en herramientas separadas.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0E643E-991E-4733-B677-A0D45CA40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62250"/>
            <a:ext cx="4953000" cy="952500"/>
          </a:xfrm>
          <a:prstGeom xmlns:a="http://schemas.openxmlformats.org/drawingml/2006/main" prst="roundRect">
            <a:avLst>
              <a:gd name="adj" fmla="val 8000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Esto dificulta mantener criterios consistentes, segmentar el acceso por departamento y dar seguimiento a cada solicitud.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937ED2-B107-4A69-B821-008BF7E3D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000250"/>
            <a:ext cx="2857500" cy="285750"/>
          </a:xfrm>
          <a:prstGeom xmlns:a="http://schemas.openxmlformats.org/drawingml/2006/main" prst="roundRect">
            <a:avLst>
              <a:gd name="adj" fmla="val 26667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842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47F95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47F95"/>
                </a:solidFill>
                <a:latin typeface="Aptos"/>
                <a:ea typeface="Aptos"/>
                <a:cs typeface="Aptos"/>
              </a:rPr>
              <a:t>Oportunidad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D6FB86-004A-417E-9D00-25A655A24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476500"/>
            <a:ext cx="3429000" cy="1238250"/>
          </a:xfrm>
          <a:prstGeom xmlns:a="http://schemas.openxmlformats.org/drawingml/2006/main" prst="roundRect">
            <a:avLst>
              <a:gd name="adj" fmla="val 6154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096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213D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213D"/>
                </a:solidFill>
                <a:latin typeface="Aptos"/>
                <a:ea typeface="Aptos"/>
                <a:cs typeface="Aptos"/>
              </a:rPr>
              <a:t>Centralizar creación, captura y revisión en una plataforma con permisos, estados y asistencia de IA.</a:t>
            </a:r>
          </a:p>
        </p:txBody>
      </p:sp>
    </p:spTree>
    <p:extLst>
      <p:ext uri="{BB962C8B-B14F-4D97-AF65-F5344CB8AC3E}">
        <p14:creationId xmlns:p14="http://schemas.microsoft.com/office/powerpoint/2010/main" val="138832289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3F8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4EA117-98B6-4D4F-BE53-D515B2999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47F9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47F95"/>
                </a:solidFill>
                <a:latin typeface="Aptos"/>
                <a:ea typeface="Aptos"/>
                <a:cs typeface="Aptos"/>
              </a:rPr>
              <a:t>FORMULARIOS INTELIGENTES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8E3C86-7D3F-4000-925F-FEAD5F36B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213D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7213D"/>
                </a:solidFill>
                <a:latin typeface="Aptos Display"/>
                <a:ea typeface="Aptos Display"/>
                <a:cs typeface="Aptos Display"/>
              </a:rPr>
              <a:t>La plataforma cubre el ciclo completo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D07DDD-E543-4C7C-B278-D6AEB0062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47875"/>
            <a:ext cx="20955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D9EEF2"/>
          </a:solidFill>
          <a:ln xmlns:a="http://schemas.openxmlformats.org/drawingml/2006/main" w="9525">
            <a:solidFill>
              <a:srgbClr val="247F95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13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13D"/>
                </a:solidFill>
                <a:latin typeface="Aptos"/>
                <a:ea typeface="Aptos"/>
                <a:cs typeface="Aptos"/>
              </a:rPr>
              <a:t>CREAR</a:t>
            </a:r>
          </a:p>
          <a:p xmlns:a="http://schemas.openxmlformats.org/drawingml/2006/main">
            <a:pPr>
              <a:defRPr sz="1500" b="1">
                <a:solidFill>
                  <a:srgbClr val="17213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13D"/>
                </a:solidFill>
                <a:latin typeface="Aptos"/>
                <a:ea typeface="Aptos"/>
                <a:cs typeface="Aptos"/>
              </a:rPr>
              <a:t>Constructor visual</a:t>
            </a:r>
          </a:p>
          <a:p xmlns:a="http://schemas.openxmlformats.org/drawingml/2006/main">
            <a:pPr>
              <a:defRPr sz="1500" b="1">
                <a:solidFill>
                  <a:srgbClr val="17213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13D"/>
                </a:solidFill>
                <a:latin typeface="Aptos"/>
                <a:ea typeface="Aptos"/>
                <a:cs typeface="Aptos"/>
              </a:rPr>
              <a:t>o lenguaje natural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42A6DE-6858-4BEF-B06C-1322FEE69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2333625"/>
            <a:ext cx="523875" cy="523875"/>
          </a:xfrm>
          <a:prstGeom xmlns:a="http://schemas.openxmlformats.org/drawingml/2006/main" prst="roundRect">
            <a:avLst>
              <a:gd name="adj" fmla="val 14545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428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47F95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247F95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2179FE-5F97-4AE2-81D6-E7D3E68F5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047875"/>
            <a:ext cx="20955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E5EAF8"/>
          </a:solidFill>
          <a:ln xmlns:a="http://schemas.openxmlformats.org/drawingml/2006/main" w="9525">
            <a:solidFill>
              <a:srgbClr val="247F95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13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13D"/>
                </a:solidFill>
                <a:latin typeface="Aptos"/>
                <a:ea typeface="Aptos"/>
                <a:cs typeface="Aptos"/>
              </a:rPr>
              <a:t>PUBLICAR</a:t>
            </a:r>
          </a:p>
          <a:p xmlns:a="http://schemas.openxmlformats.org/drawingml/2006/main">
            <a:pPr>
              <a:defRPr sz="1500" b="1">
                <a:solidFill>
                  <a:srgbClr val="17213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13D"/>
                </a:solidFill>
                <a:latin typeface="Aptos"/>
                <a:ea typeface="Aptos"/>
                <a:cs typeface="Aptos"/>
              </a:rPr>
              <a:t>Enlace público</a:t>
            </a:r>
          </a:p>
          <a:p xmlns:a="http://schemas.openxmlformats.org/drawingml/2006/main">
            <a:pPr>
              <a:defRPr sz="1500" b="1">
                <a:solidFill>
                  <a:srgbClr val="17213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13D"/>
                </a:solidFill>
                <a:latin typeface="Aptos"/>
                <a:ea typeface="Aptos"/>
                <a:cs typeface="Aptos"/>
              </a:rPr>
              <a:t>o privado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E49A10-8CD8-4DFF-BC08-0F54A0E8B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333625"/>
            <a:ext cx="523875" cy="523875"/>
          </a:xfrm>
          <a:prstGeom xmlns:a="http://schemas.openxmlformats.org/drawingml/2006/main" prst="roundRect">
            <a:avLst>
              <a:gd name="adj" fmla="val 14545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428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47F95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247F95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AEF966-5395-444F-B354-6920EC1D9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47875"/>
            <a:ext cx="20955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E7F4EF"/>
          </a:solidFill>
          <a:ln xmlns:a="http://schemas.openxmlformats.org/drawingml/2006/main" w="9525">
            <a:solidFill>
              <a:srgbClr val="247F95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13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13D"/>
                </a:solidFill>
                <a:latin typeface="Aptos"/>
                <a:ea typeface="Aptos"/>
                <a:cs typeface="Aptos"/>
              </a:rPr>
              <a:t>RESPONDER</a:t>
            </a:r>
          </a:p>
          <a:p xmlns:a="http://schemas.openxmlformats.org/drawingml/2006/main">
            <a:pPr>
              <a:defRPr sz="1500" b="1">
                <a:solidFill>
                  <a:srgbClr val="17213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13D"/>
                </a:solidFill>
                <a:latin typeface="Aptos"/>
                <a:ea typeface="Aptos"/>
                <a:cs typeface="Aptos"/>
              </a:rPr>
              <a:t>Preguntas, opciones</a:t>
            </a:r>
          </a:p>
          <a:p xmlns:a="http://schemas.openxmlformats.org/drawingml/2006/main">
            <a:pPr>
              <a:defRPr sz="1500" b="1">
                <a:solidFill>
                  <a:srgbClr val="17213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13D"/>
                </a:solidFill>
                <a:latin typeface="Aptos"/>
                <a:ea typeface="Aptos"/>
                <a:cs typeface="Aptos"/>
              </a:rPr>
              <a:t>y fotografías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42FC0B-8194-49DD-8922-53A1E6D93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333625"/>
            <a:ext cx="523875" cy="523875"/>
          </a:xfrm>
          <a:prstGeom xmlns:a="http://schemas.openxmlformats.org/drawingml/2006/main" prst="roundRect">
            <a:avLst>
              <a:gd name="adj" fmla="val 14545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428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47F95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247F95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3EB174-5D4B-45E0-AF40-735674B92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047875"/>
            <a:ext cx="20955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5E9D9"/>
          </a:solidFill>
          <a:ln xmlns:a="http://schemas.openxmlformats.org/drawingml/2006/main" w="9525">
            <a:solidFill>
              <a:srgbClr val="247F95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13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13D"/>
                </a:solidFill>
                <a:latin typeface="Aptos"/>
                <a:ea typeface="Aptos"/>
                <a:cs typeface="Aptos"/>
              </a:rPr>
              <a:t>REVISAR</a:t>
            </a:r>
          </a:p>
          <a:p xmlns:a="http://schemas.openxmlformats.org/drawingml/2006/main">
            <a:pPr>
              <a:defRPr sz="1500" b="1">
                <a:solidFill>
                  <a:srgbClr val="17213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13D"/>
                </a:solidFill>
                <a:latin typeface="Aptos"/>
                <a:ea typeface="Aptos"/>
                <a:cs typeface="Aptos"/>
              </a:rPr>
              <a:t>BackOffice por</a:t>
            </a:r>
          </a:p>
          <a:p xmlns:a="http://schemas.openxmlformats.org/drawingml/2006/main">
            <a:pPr>
              <a:defRPr sz="1500" b="1">
                <a:solidFill>
                  <a:srgbClr val="17213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13D"/>
                </a:solidFill>
                <a:latin typeface="Aptos"/>
                <a:ea typeface="Aptos"/>
                <a:cs typeface="Aptos"/>
              </a:rPr>
              <a:t>departamento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201806-198F-48E2-BE7F-70C948777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05250"/>
            <a:ext cx="2095500" cy="285750"/>
          </a:xfrm>
          <a:prstGeom xmlns:a="http://schemas.openxmlformats.org/drawingml/2006/main" prst="roundRect">
            <a:avLst>
              <a:gd name="adj" fmla="val 26667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028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47F9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47F95"/>
                </a:solidFill>
                <a:latin typeface="Aptos"/>
                <a:ea typeface="Aptos"/>
                <a:cs typeface="Aptos"/>
              </a:rPr>
              <a:t>Flujo de estados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A4903C-4BE8-49C0-BD7C-D5431C1C0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76750"/>
            <a:ext cx="1714500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E5F4EF"/>
          </a:solidFill>
          <a:ln xmlns:a="http://schemas.openxmlformats.org/drawingml/2006/main" w="9525">
            <a:solidFill>
              <a:srgbClr val="247F95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13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13D"/>
                </a:solidFill>
                <a:latin typeface="Aptos"/>
                <a:ea typeface="Aptos"/>
                <a:cs typeface="Aptos"/>
              </a:rPr>
              <a:t>INGRESADO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6989A0-1808-4EC8-B153-A08F8EA1D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524375"/>
            <a:ext cx="523875" cy="428625"/>
          </a:xfrm>
          <a:prstGeom xmlns:a="http://schemas.openxmlformats.org/drawingml/2006/main" prst="roundRect">
            <a:avLst>
              <a:gd name="adj" fmla="val 17778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316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47F95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247F95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899867-E364-42B8-8C5D-7195C04E8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476750"/>
            <a:ext cx="1809750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E8EEF7"/>
          </a:solidFill>
          <a:ln xmlns:a="http://schemas.openxmlformats.org/drawingml/2006/main" w="9525">
            <a:solidFill>
              <a:srgbClr val="247F95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13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13D"/>
                </a:solidFill>
                <a:latin typeface="Aptos"/>
                <a:ea typeface="Aptos"/>
                <a:cs typeface="Aptos"/>
              </a:rPr>
              <a:t>EN REVISIÓN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0C1FB4-C4DC-4773-B2B3-6DE899D61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524375"/>
            <a:ext cx="523875" cy="428625"/>
          </a:xfrm>
          <a:prstGeom xmlns:a="http://schemas.openxmlformats.org/drawingml/2006/main" prst="roundRect">
            <a:avLst>
              <a:gd name="adj" fmla="val 17778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316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47F95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247F95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542D60-E44F-4B85-B201-B4394B00E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476750"/>
            <a:ext cx="1714500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DDF3EA"/>
          </a:solidFill>
          <a:ln xmlns:a="http://schemas.openxmlformats.org/drawingml/2006/main" w="9525">
            <a:solidFill>
              <a:srgbClr val="277A63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77A6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77A63"/>
                </a:solidFill>
                <a:latin typeface="Aptos"/>
                <a:ea typeface="Aptos"/>
                <a:cs typeface="Aptos"/>
              </a:rPr>
              <a:t>APROBADO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81B3AD-7D0F-4BAF-8652-E3A08C18D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524375"/>
            <a:ext cx="333375" cy="428625"/>
          </a:xfrm>
          <a:prstGeom xmlns:a="http://schemas.openxmlformats.org/drawingml/2006/main" prst="roundRect">
            <a:avLst>
              <a:gd name="adj" fmla="val 22857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594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47F95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47F95"/>
                </a:solidFill>
                <a:latin typeface="Aptos"/>
                <a:ea typeface="Aptos"/>
                <a:cs typeface="Aptos"/>
              </a:rPr>
              <a:t>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5D514C-7D51-4A6D-A65E-DE18FA324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476750"/>
            <a:ext cx="1905000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8E2E2"/>
          </a:solidFill>
          <a:ln xmlns:a="http://schemas.openxmlformats.org/drawingml/2006/main" w="9525">
            <a:solidFill>
              <a:srgbClr val="B45353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B4535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B45353"/>
                </a:solidFill>
                <a:latin typeface="Aptos"/>
                <a:ea typeface="Aptos"/>
                <a:cs typeface="Aptos"/>
              </a:rPr>
              <a:t>RECHAZADO</a:t>
            </a:r>
          </a:p>
        </p:txBody>
      </p:sp>
    </p:spTree>
    <p:extLst>
      <p:ext uri="{BB962C8B-B14F-4D97-AF65-F5344CB8AC3E}">
        <p14:creationId xmlns:p14="http://schemas.microsoft.com/office/powerpoint/2010/main" val="138889183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3F8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074A61-27FB-450B-98FB-C6FC53010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47F9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47F95"/>
                </a:solidFill>
                <a:latin typeface="Aptos"/>
                <a:ea typeface="Aptos"/>
                <a:cs typeface="Aptos"/>
              </a:rPr>
              <a:t>FORMULARIOS INTELIGENTES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DC573B-AE5B-440E-868A-A77777985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213D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7213D"/>
                </a:solidFill>
                <a:latin typeface="Aptos Display"/>
                <a:ea typeface="Aptos Display"/>
                <a:cs typeface="Aptos Display"/>
              </a:rPr>
              <a:t>Los competidores cubren partes del problema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894092-C917-47AC-9D64-354F0381D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05000"/>
            <a:ext cx="2667000" cy="381000"/>
          </a:xfrm>
          <a:prstGeom xmlns:a="http://schemas.openxmlformats.org/drawingml/2006/main" prst="roundRect">
            <a:avLst>
              <a:gd name="adj" fmla="val 20000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284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213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213D"/>
                </a:solidFill>
                <a:latin typeface="Aptos"/>
                <a:ea typeface="Aptos"/>
                <a:cs typeface="Aptos"/>
              </a:rPr>
              <a:t>Google Forms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F4961F-7F78-42E1-9267-CF46873C1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28875"/>
            <a:ext cx="3143250" cy="571500"/>
          </a:xfrm>
          <a:prstGeom xmlns:a="http://schemas.openxmlformats.org/drawingml/2006/main" prst="roundRect">
            <a:avLst>
              <a:gd name="adj" fmla="val 13333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702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Creación sencilla y gráficos de respuestas.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610074-7D49-490D-ADCE-BC51838D3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905000"/>
            <a:ext cx="2667000" cy="381000"/>
          </a:xfrm>
          <a:prstGeom xmlns:a="http://schemas.openxmlformats.org/drawingml/2006/main" prst="roundRect">
            <a:avLst>
              <a:gd name="adj" fmla="val 20000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284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213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213D"/>
                </a:solidFill>
                <a:latin typeface="Aptos"/>
                <a:ea typeface="Aptos"/>
                <a:cs typeface="Aptos"/>
              </a:rPr>
              <a:t>Typeform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03AF9A-5223-4A05-B1AC-1EA2A64CE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428875"/>
            <a:ext cx="3333750" cy="571500"/>
          </a:xfrm>
          <a:prstGeom xmlns:a="http://schemas.openxmlformats.org/drawingml/2006/main" prst="roundRect">
            <a:avLst>
              <a:gd name="adj" fmla="val 13333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702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Experiencias conversacionales, lógica y analítica.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224F05-41F5-435B-99E1-A490A0727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905000"/>
            <a:ext cx="2381250" cy="381000"/>
          </a:xfrm>
          <a:prstGeom xmlns:a="http://schemas.openxmlformats.org/drawingml/2006/main" prst="roundRect">
            <a:avLst>
              <a:gd name="adj" fmla="val 20000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284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213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213D"/>
                </a:solidFill>
                <a:latin typeface="Aptos"/>
                <a:ea typeface="Aptos"/>
                <a:cs typeface="Aptos"/>
              </a:rPr>
              <a:t>Jotform AI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856E8F-F612-4AFB-9BB6-47CD8AF55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428875"/>
            <a:ext cx="2857500" cy="571500"/>
          </a:xfrm>
          <a:prstGeom xmlns:a="http://schemas.openxmlformats.org/drawingml/2006/main" prst="roundRect">
            <a:avLst>
              <a:gd name="adj" fmla="val 13333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702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Generación de formularios asistida por IA.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6BADFA-A516-45F6-9C36-3B34C651E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05250"/>
            <a:ext cx="2857500" cy="333375"/>
          </a:xfrm>
          <a:prstGeom xmlns:a="http://schemas.openxmlformats.org/drawingml/2006/main" prst="roundRect">
            <a:avLst>
              <a:gd name="adj" fmla="val 22857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97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7F9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47F95"/>
                </a:solidFill>
                <a:latin typeface="Aptos"/>
                <a:ea typeface="Aptos"/>
                <a:cs typeface="Aptos"/>
              </a:rPr>
              <a:t>Nuestra oportunidad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AB0362-4533-4F47-B5E7-4F303F673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81500"/>
            <a:ext cx="9525000" cy="666750"/>
          </a:xfrm>
          <a:prstGeom xmlns:a="http://schemas.openxmlformats.org/drawingml/2006/main" prst="roundRect">
            <a:avLst>
              <a:gd name="adj" fmla="val 11429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285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7213D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7213D"/>
                </a:solidFill>
                <a:latin typeface="Aptos"/>
                <a:ea typeface="Aptos"/>
                <a:cs typeface="Aptos"/>
              </a:rPr>
              <a:t>Unir creación y edición con IA, roles por departamento, respuestas trazables y revisión BackOffice en un flujo único.</a:t>
            </a:r>
          </a:p>
        </p:txBody>
      </p:sp>
    </p:spTree>
    <p:extLst>
      <p:ext uri="{BB962C8B-B14F-4D97-AF65-F5344CB8AC3E}">
        <p14:creationId xmlns:p14="http://schemas.microsoft.com/office/powerpoint/2010/main" val="180266082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3F8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FBF00C-5EB9-4C0F-B6F0-EF75B44F5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47F9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47F95"/>
                </a:solidFill>
                <a:latin typeface="Aptos"/>
                <a:ea typeface="Aptos"/>
                <a:cs typeface="Aptos"/>
              </a:rPr>
              <a:t>FORMULARIOS INTELIGENTES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09DE9C-1739-4A7C-A0EB-32BF32C37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213D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7213D"/>
                </a:solidFill>
                <a:latin typeface="Aptos Display"/>
                <a:ea typeface="Aptos Display"/>
                <a:cs typeface="Aptos Display"/>
              </a:rPr>
              <a:t>Arquitectura técnica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0E01DD-D77E-4289-92C8-0666EDC04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14500"/>
            <a:ext cx="2381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9EEF2"/>
          </a:solidFill>
          <a:ln xmlns:a="http://schemas.openxmlformats.org/drawingml/2006/main" w="9525">
            <a:solidFill>
              <a:srgbClr val="247F95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7F9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47F95"/>
                </a:solidFill>
                <a:latin typeface="Aptos"/>
                <a:ea typeface="Aptos"/>
                <a:cs typeface="Aptos"/>
              </a:rPr>
              <a:t>INTERFAZ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72ABEB-3DC6-44E7-A060-1498CCF60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86000"/>
            <a:ext cx="2381250" cy="809625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47F95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213D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7213D"/>
                </a:solidFill>
                <a:latin typeface="Aptos"/>
                <a:ea typeface="Aptos"/>
                <a:cs typeface="Aptos"/>
              </a:rPr>
              <a:t>React</a:t>
            </a:r>
          </a:p>
          <a:p xmlns:a="http://schemas.openxmlformats.org/drawingml/2006/main">
            <a:pPr>
              <a:defRPr sz="1725" b="1">
                <a:solidFill>
                  <a:srgbClr val="17213D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7213D"/>
                </a:solidFill>
                <a:latin typeface="Aptos"/>
                <a:ea typeface="Aptos"/>
                <a:cs typeface="Aptos"/>
              </a:rPr>
              <a:t>Vite · TypeScript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0104CC-0729-4D92-8D07-25E0E645A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3238500"/>
            <a:ext cx="428625" cy="428625"/>
          </a:xfrm>
          <a:prstGeom xmlns:a="http://schemas.openxmlformats.org/drawingml/2006/main" prst="roundRect">
            <a:avLst>
              <a:gd name="adj" fmla="val 17778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41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47F95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247F95"/>
                </a:solidFill>
                <a:latin typeface="Aptos"/>
                <a:ea typeface="Aptos"/>
                <a:cs typeface="Aptos"/>
              </a:rPr>
              <a:t>↓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CDCEDE-4539-4DDC-8656-0962D37AE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10000"/>
            <a:ext cx="2381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5EAF8"/>
          </a:solidFill>
          <a:ln xmlns:a="http://schemas.openxmlformats.org/drawingml/2006/main" w="9525">
            <a:solidFill>
              <a:srgbClr val="247F95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7F9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47F95"/>
                </a:solidFill>
                <a:latin typeface="Aptos"/>
                <a:ea typeface="Aptos"/>
                <a:cs typeface="Aptos"/>
              </a:rPr>
              <a:t>DATOS Y ACCESO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F2D758-C1F6-49B3-BC7E-FD09F7C90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81500"/>
            <a:ext cx="2381250" cy="809625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47F95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213D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213D"/>
                </a:solidFill>
                <a:latin typeface="Aptos"/>
                <a:ea typeface="Aptos"/>
                <a:cs typeface="Aptos"/>
              </a:rPr>
              <a:t>Supabase Auth</a:t>
            </a:r>
          </a:p>
          <a:p xmlns:a="http://schemas.openxmlformats.org/drawingml/2006/main">
            <a:pPr>
              <a:defRPr sz="1650" b="1">
                <a:solidFill>
                  <a:srgbClr val="17213D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213D"/>
                </a:solidFill>
                <a:latin typeface="Aptos"/>
                <a:ea typeface="Aptos"/>
                <a:cs typeface="Aptos"/>
              </a:rPr>
              <a:t>PostgreSQL · RLS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4B64DB-CFD9-4FA5-A43C-867FF4AAF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714500"/>
            <a:ext cx="2667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9EEF2"/>
          </a:solidFill>
          <a:ln xmlns:a="http://schemas.openxmlformats.org/drawingml/2006/main" w="9525">
            <a:solidFill>
              <a:srgbClr val="247F95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7F9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47F95"/>
                </a:solidFill>
                <a:latin typeface="Aptos"/>
                <a:ea typeface="Aptos"/>
                <a:cs typeface="Aptos"/>
              </a:rPr>
              <a:t>IA Y LÓGICA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497DBD-6E95-4633-9915-BDD1EAF9C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286000"/>
            <a:ext cx="26670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47F95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213D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7213D"/>
                </a:solidFill>
                <a:latin typeface="Aptos"/>
                <a:ea typeface="Aptos"/>
                <a:cs typeface="Aptos"/>
              </a:rPr>
              <a:t>Edge Functions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F3925B-9144-40D7-9C99-66C5FDA45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095625"/>
            <a:ext cx="428625" cy="428625"/>
          </a:xfrm>
          <a:prstGeom xmlns:a="http://schemas.openxmlformats.org/drawingml/2006/main" prst="roundRect">
            <a:avLst>
              <a:gd name="adj" fmla="val 17778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41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47F95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247F95"/>
                </a:solidFill>
                <a:latin typeface="Aptos"/>
                <a:ea typeface="Aptos"/>
                <a:cs typeface="Aptos"/>
              </a:rPr>
              <a:t>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678DB1-6A54-4523-BE79-2EE946EF8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714750"/>
            <a:ext cx="34290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247F95"/>
          </a:solidFill>
          <a:ln xmlns:a="http://schemas.openxmlformats.org/drawingml/2006/main" w="9525">
            <a:solidFill>
              <a:srgbClr val="247F95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OpenAI Responses API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85F5ED-2EAC-412C-A26B-442E708F1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953000"/>
            <a:ext cx="5715000" cy="619125"/>
          </a:xfrm>
          <a:prstGeom xmlns:a="http://schemas.openxmlformats.org/drawingml/2006/main" prst="roundRect">
            <a:avLst>
              <a:gd name="adj" fmla="val 12308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RLS protege filas; las funciones serverless protegen secretos y centralizan operaciones privilegiadas.</a:t>
            </a:r>
          </a:p>
        </p:txBody>
      </p:sp>
    </p:spTree>
    <p:extLst>
      <p:ext uri="{BB962C8B-B14F-4D97-AF65-F5344CB8AC3E}">
        <p14:creationId xmlns:p14="http://schemas.microsoft.com/office/powerpoint/2010/main" val="152163142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3F8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4D0A9C-485B-4EB6-ACDE-B569BDB96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47F9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47F95"/>
                </a:solidFill>
                <a:latin typeface="Aptos"/>
                <a:ea typeface="Aptos"/>
                <a:cs typeface="Aptos"/>
              </a:rPr>
              <a:t>FORMULARIOS INTELIGENTES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8E0009-8C57-4526-BBDF-16F3175F0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213D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7213D"/>
                </a:solidFill>
                <a:latin typeface="Aptos Display"/>
                <a:ea typeface="Aptos Display"/>
                <a:cs typeface="Aptos Display"/>
              </a:rPr>
              <a:t>La IA convierte lenguaje natural en estructura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22E4E6-95A7-4226-9473-32EFA7BA4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14500"/>
            <a:ext cx="10287000" cy="571500"/>
          </a:xfrm>
          <a:prstGeom xmlns:a="http://schemas.openxmlformats.org/drawingml/2006/main" prst="roundRect">
            <a:avLst>
              <a:gd name="adj" fmla="val 13333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213D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7213D"/>
                </a:solidFill>
                <a:latin typeface="Aptos"/>
                <a:ea typeface="Aptos"/>
                <a:cs typeface="Aptos"/>
              </a:rPr>
              <a:t>“Crea un formulario para Recursos Humanos con nombre, teléfono y certificaciones”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1EE33B-B803-4AF1-8BB6-6A05A9B7A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57500"/>
            <a:ext cx="1714500" cy="714375"/>
          </a:xfrm>
          <a:prstGeom xmlns:a="http://schemas.openxmlformats.org/drawingml/2006/main" prst="roundRect">
            <a:avLst>
              <a:gd name="adj" fmla="val 10667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213D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7213D"/>
                </a:solidFill>
                <a:latin typeface="Aptos"/>
                <a:ea typeface="Aptos"/>
                <a:cs typeface="Aptos"/>
              </a:rPr>
              <a:t>1</a:t>
            </a:r>
          </a:p>
          <a:p xmlns:a="http://schemas.openxmlformats.org/drawingml/2006/main">
            <a:pPr>
              <a:defRPr sz="1725" b="1">
                <a:solidFill>
                  <a:srgbClr val="17213D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7213D"/>
                </a:solidFill>
                <a:latin typeface="Aptos"/>
                <a:ea typeface="Aptos"/>
                <a:cs typeface="Aptos"/>
              </a:rPr>
              <a:t>Prompt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EB9C5C-5028-4D3F-9D6D-7760E2255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000375"/>
            <a:ext cx="523875" cy="428625"/>
          </a:xfrm>
          <a:prstGeom xmlns:a="http://schemas.openxmlformats.org/drawingml/2006/main" prst="roundRect">
            <a:avLst>
              <a:gd name="adj" fmla="val 17778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316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47F95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247F95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0CAEA3-0361-44E7-94DF-ED23C0984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857500"/>
            <a:ext cx="2000250" cy="714375"/>
          </a:xfrm>
          <a:prstGeom xmlns:a="http://schemas.openxmlformats.org/drawingml/2006/main" prst="roundRect">
            <a:avLst>
              <a:gd name="adj" fmla="val 10667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213D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7213D"/>
                </a:solidFill>
                <a:latin typeface="Aptos"/>
                <a:ea typeface="Aptos"/>
                <a:cs typeface="Aptos"/>
              </a:rPr>
              <a:t>2</a:t>
            </a:r>
          </a:p>
          <a:p xmlns:a="http://schemas.openxmlformats.org/drawingml/2006/main">
            <a:pPr>
              <a:defRPr sz="1725" b="1">
                <a:solidFill>
                  <a:srgbClr val="17213D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7213D"/>
                </a:solidFill>
                <a:latin typeface="Aptos"/>
                <a:ea typeface="Aptos"/>
                <a:cs typeface="Aptos"/>
              </a:rPr>
              <a:t>Edge Function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5E52AA-4C6A-4D7D-89E5-8E8E64478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000375"/>
            <a:ext cx="523875" cy="428625"/>
          </a:xfrm>
          <a:prstGeom xmlns:a="http://schemas.openxmlformats.org/drawingml/2006/main" prst="roundRect">
            <a:avLst>
              <a:gd name="adj" fmla="val 17778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316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47F95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247F95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A19921-CBAE-49D0-BF82-784484E17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714625"/>
            <a:ext cx="2381250" cy="1000125"/>
          </a:xfrm>
          <a:prstGeom xmlns:a="http://schemas.openxmlformats.org/drawingml/2006/main" prst="roundRect">
            <a:avLst>
              <a:gd name="adj" fmla="val 7619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47F95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47F95"/>
                </a:solidFill>
                <a:latin typeface="Aptos"/>
                <a:ea typeface="Aptos"/>
                <a:cs typeface="Aptos"/>
              </a:rPr>
              <a:t>3</a:t>
            </a:r>
          </a:p>
          <a:p xmlns:a="http://schemas.openxmlformats.org/drawingml/2006/main">
            <a:pPr>
              <a:defRPr sz="1650" b="1">
                <a:solidFill>
                  <a:srgbClr val="247F95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47F95"/>
                </a:solidFill>
                <a:latin typeface="Aptos"/>
                <a:ea typeface="Aptos"/>
                <a:cs typeface="Aptos"/>
              </a:rPr>
              <a:t>GPT-5 nano</a:t>
            </a:r>
          </a:p>
          <a:p xmlns:a="http://schemas.openxmlformats.org/drawingml/2006/main">
            <a:pPr>
              <a:defRPr sz="1650" b="1">
                <a:solidFill>
                  <a:srgbClr val="247F95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47F95"/>
                </a:solidFill>
                <a:latin typeface="Aptos"/>
                <a:ea typeface="Aptos"/>
                <a:cs typeface="Aptos"/>
              </a:rPr>
              <a:t>+ JSON Schema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5B5FF4-65BA-43CA-A750-6D2784006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000375"/>
            <a:ext cx="523875" cy="428625"/>
          </a:xfrm>
          <a:prstGeom xmlns:a="http://schemas.openxmlformats.org/drawingml/2006/main" prst="roundRect">
            <a:avLst>
              <a:gd name="adj" fmla="val 17778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316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47F95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247F95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BF769A-9B4C-40E7-A6EE-C72ADD57C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857500"/>
            <a:ext cx="1428750" cy="714375"/>
          </a:xfrm>
          <a:prstGeom xmlns:a="http://schemas.openxmlformats.org/drawingml/2006/main" prst="roundRect">
            <a:avLst>
              <a:gd name="adj" fmla="val 10667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213D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213D"/>
                </a:solidFill>
                <a:latin typeface="Aptos"/>
                <a:ea typeface="Aptos"/>
                <a:cs typeface="Aptos"/>
              </a:rPr>
              <a:t>4</a:t>
            </a:r>
          </a:p>
          <a:p xmlns:a="http://schemas.openxmlformats.org/drawingml/2006/main">
            <a:pPr>
              <a:defRPr sz="1650" b="1">
                <a:solidFill>
                  <a:srgbClr val="17213D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213D"/>
                </a:solidFill>
                <a:latin typeface="Aptos"/>
                <a:ea typeface="Aptos"/>
                <a:cs typeface="Aptos"/>
              </a:rPr>
              <a:t>Vista previa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75A4E9-9C57-4DE0-90F8-0C6CEA6FD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476750"/>
            <a:ext cx="3333750" cy="523875"/>
          </a:xfrm>
          <a:prstGeom xmlns:a="http://schemas.openxmlformats.org/drawingml/2006/main" prst="roundRect">
            <a:avLst>
              <a:gd name="adj" fmla="val 14545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47F95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47F95"/>
                </a:solidFill>
                <a:latin typeface="Aptos"/>
                <a:ea typeface="Aptos"/>
                <a:cs typeface="Aptos"/>
              </a:rPr>
              <a:t>5  Confirmar y guardar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89C369-900B-4FA9-BAED-FDD270313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476875"/>
            <a:ext cx="7620000" cy="381000"/>
          </a:xfrm>
          <a:prstGeom xmlns:a="http://schemas.openxmlformats.org/drawingml/2006/main" prst="roundRect">
            <a:avLst>
              <a:gd name="adj" fmla="val 20000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512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Al editar, el prompt incluye la estructura actual para conservar preguntas y secciones no modificadas.</a:t>
            </a:r>
          </a:p>
        </p:txBody>
      </p:sp>
    </p:spTree>
    <p:extLst>
      <p:ext uri="{BB962C8B-B14F-4D97-AF65-F5344CB8AC3E}">
        <p14:creationId xmlns:p14="http://schemas.microsoft.com/office/powerpoint/2010/main" val="62200170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3F8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93E24E-ECD2-4E1A-802D-DF1F4A552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47F9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47F95"/>
                </a:solidFill>
                <a:latin typeface="Aptos"/>
                <a:ea typeface="Aptos"/>
                <a:cs typeface="Aptos"/>
              </a:rPr>
              <a:t>FORMULARIOS INTELIGENTES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9A0BF5-6EC2-4C10-89B9-D6BFED20F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213D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7213D"/>
                </a:solidFill>
                <a:latin typeface="Aptos Display"/>
                <a:ea typeface="Aptos Display"/>
                <a:cs typeface="Aptos Display"/>
              </a:rPr>
              <a:t>Roles y seguridad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DAD79D-342F-499A-B176-0D8876EFE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52625"/>
            <a:ext cx="2333625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E5EAF8"/>
          </a:solidFill>
          <a:ln xmlns:a="http://schemas.openxmlformats.org/drawingml/2006/main" w="9525">
            <a:solidFill>
              <a:srgbClr val="247F95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13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13D"/>
                </a:solidFill>
                <a:latin typeface="Aptos"/>
                <a:ea typeface="Aptos"/>
                <a:cs typeface="Aptos"/>
              </a:rPr>
              <a:t>ADMINISTRADOR</a:t>
            </a:r>
          </a:p>
          <a:p xmlns:a="http://schemas.openxmlformats.org/drawingml/2006/main">
            <a:pPr>
              <a:defRPr sz="1500" b="1">
                <a:solidFill>
                  <a:srgbClr val="17213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13D"/>
                </a:solidFill>
                <a:latin typeface="Aptos"/>
                <a:ea typeface="Aptos"/>
                <a:cs typeface="Aptos"/>
              </a:rPr>
              <a:t>Usuarios, roles y</a:t>
            </a:r>
          </a:p>
          <a:p xmlns:a="http://schemas.openxmlformats.org/drawingml/2006/main">
            <a:pPr>
              <a:defRPr sz="1500" b="1">
                <a:solidFill>
                  <a:srgbClr val="17213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13D"/>
                </a:solidFill>
                <a:latin typeface="Aptos"/>
                <a:ea typeface="Aptos"/>
                <a:cs typeface="Aptos"/>
              </a:rPr>
              <a:t>configuración global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4F5356-5C7A-4EAB-BBC1-D42719C68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952625"/>
            <a:ext cx="2333625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D9EEF2"/>
          </a:solidFill>
          <a:ln xmlns:a="http://schemas.openxmlformats.org/drawingml/2006/main" w="9525">
            <a:solidFill>
              <a:srgbClr val="247F95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13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13D"/>
                </a:solidFill>
                <a:latin typeface="Aptos"/>
                <a:ea typeface="Aptos"/>
                <a:cs typeface="Aptos"/>
              </a:rPr>
              <a:t>DISEÑADOR</a:t>
            </a:r>
          </a:p>
          <a:p xmlns:a="http://schemas.openxmlformats.org/drawingml/2006/main">
            <a:pPr>
              <a:defRPr sz="1500" b="1">
                <a:solidFill>
                  <a:srgbClr val="17213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13D"/>
                </a:solidFill>
                <a:latin typeface="Aptos"/>
                <a:ea typeface="Aptos"/>
                <a:cs typeface="Aptos"/>
              </a:rPr>
              <a:t>Crea y edita</a:t>
            </a:r>
          </a:p>
          <a:p xmlns:a="http://schemas.openxmlformats.org/drawingml/2006/main">
            <a:pPr>
              <a:defRPr sz="1500" b="1">
                <a:solidFill>
                  <a:srgbClr val="17213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13D"/>
                </a:solidFill>
                <a:latin typeface="Aptos"/>
                <a:ea typeface="Aptos"/>
                <a:cs typeface="Aptos"/>
              </a:rPr>
              <a:t>formularios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7E5192-1E09-4800-8AD6-E6F418A38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952625"/>
            <a:ext cx="2333625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E7F4EF"/>
          </a:solidFill>
          <a:ln xmlns:a="http://schemas.openxmlformats.org/drawingml/2006/main" w="9525">
            <a:solidFill>
              <a:srgbClr val="247F95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13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13D"/>
                </a:solidFill>
                <a:latin typeface="Aptos"/>
                <a:ea typeface="Aptos"/>
                <a:cs typeface="Aptos"/>
              </a:rPr>
              <a:t>PARTICIPANTE</a:t>
            </a:r>
          </a:p>
          <a:p xmlns:a="http://schemas.openxmlformats.org/drawingml/2006/main">
            <a:pPr>
              <a:defRPr sz="1500" b="1">
                <a:solidFill>
                  <a:srgbClr val="17213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13D"/>
                </a:solidFill>
                <a:latin typeface="Aptos"/>
                <a:ea typeface="Aptos"/>
                <a:cs typeface="Aptos"/>
              </a:rPr>
              <a:t>Responde formularios</a:t>
            </a:r>
          </a:p>
          <a:p xmlns:a="http://schemas.openxmlformats.org/drawingml/2006/main">
            <a:pPr>
              <a:defRPr sz="1500" b="1">
                <a:solidFill>
                  <a:srgbClr val="17213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13D"/>
                </a:solidFill>
                <a:latin typeface="Aptos"/>
                <a:ea typeface="Aptos"/>
                <a:cs typeface="Aptos"/>
              </a:rPr>
              <a:t>publicados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DCAA88-8B9B-4DA0-9A08-05ADE31BF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952625"/>
            <a:ext cx="2333625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5E9D9"/>
          </a:solidFill>
          <a:ln xmlns:a="http://schemas.openxmlformats.org/drawingml/2006/main" w="9525">
            <a:solidFill>
              <a:srgbClr val="247F95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13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13D"/>
                </a:solidFill>
                <a:latin typeface="Aptos"/>
                <a:ea typeface="Aptos"/>
                <a:cs typeface="Aptos"/>
              </a:rPr>
              <a:t>BACKOFFICE</a:t>
            </a:r>
          </a:p>
          <a:p xmlns:a="http://schemas.openxmlformats.org/drawingml/2006/main">
            <a:pPr>
              <a:defRPr sz="1500" b="1">
                <a:solidFill>
                  <a:srgbClr val="17213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13D"/>
                </a:solidFill>
                <a:latin typeface="Aptos"/>
                <a:ea typeface="Aptos"/>
                <a:cs typeface="Aptos"/>
              </a:rPr>
              <a:t>Revisa envíos de</a:t>
            </a:r>
          </a:p>
          <a:p xmlns:a="http://schemas.openxmlformats.org/drawingml/2006/main">
            <a:pPr>
              <a:defRPr sz="1500" b="1">
                <a:solidFill>
                  <a:srgbClr val="17213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13D"/>
                </a:solidFill>
                <a:latin typeface="Aptos"/>
                <a:ea typeface="Aptos"/>
                <a:cs typeface="Aptos"/>
              </a:rPr>
              <a:t>su departamento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8F7AB1-AD7F-48C9-879E-82E4F3D35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52875"/>
            <a:ext cx="28575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47F95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7F9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47F95"/>
                </a:solidFill>
                <a:latin typeface="Aptos"/>
                <a:ea typeface="Aptos"/>
                <a:cs typeface="Aptos"/>
              </a:rPr>
              <a:t>Permisos de aplicación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09B496-1208-4706-9070-D308FA175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24375"/>
            <a:ext cx="3810000" cy="523875"/>
          </a:xfrm>
          <a:prstGeom xmlns:a="http://schemas.openxmlformats.org/drawingml/2006/main" prst="roundRect">
            <a:avLst>
              <a:gd name="adj" fmla="val 14545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821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La interfaz muestra solo los módulos autorizados.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97E96E-DB56-445E-BC07-B4B0936D4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952875"/>
            <a:ext cx="28575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47F95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7F9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47F95"/>
                </a:solidFill>
                <a:latin typeface="Aptos"/>
                <a:ea typeface="Aptos"/>
                <a:cs typeface="Aptos"/>
              </a:rPr>
              <a:t>RLS en PostgreSQL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F0CA78-3665-4535-87B3-6D8B8A3BC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524375"/>
            <a:ext cx="4572000" cy="523875"/>
          </a:xfrm>
          <a:prstGeom xmlns:a="http://schemas.openxmlformats.org/drawingml/2006/main" prst="roundRect">
            <a:avLst>
              <a:gd name="adj" fmla="val 14545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821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La base de datos valida quién puede leer o modificar cada fila.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D4FEED-7048-45DD-A734-D898413E6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715000"/>
            <a:ext cx="7620000" cy="333375"/>
          </a:xfrm>
          <a:prstGeom xmlns:a="http://schemas.openxmlformats.org/drawingml/2006/main" prst="roundRect">
            <a:avLst>
              <a:gd name="adj" fmla="val 22857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30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47F95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47F95"/>
                </a:solidFill>
                <a:latin typeface="Aptos"/>
                <a:ea typeface="Aptos"/>
                <a:cs typeface="Aptos"/>
              </a:rPr>
              <a:t>Dos capas de protección: permisos en React + políticas RLS en Supabase.</a:t>
            </a:r>
          </a:p>
        </p:txBody>
      </p:sp>
    </p:spTree>
    <p:extLst>
      <p:ext uri="{BB962C8B-B14F-4D97-AF65-F5344CB8AC3E}">
        <p14:creationId xmlns:p14="http://schemas.microsoft.com/office/powerpoint/2010/main" val="1250303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3F8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58EC69-1E4B-4B5D-A7A3-773DEA9C6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47F9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47F95"/>
                </a:solidFill>
                <a:latin typeface="Aptos"/>
                <a:ea typeface="Aptos"/>
                <a:cs typeface="Aptos"/>
              </a:rPr>
              <a:t>FORMULARIOS INTELIGENTES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64DE85-24F8-4C61-92FF-7405CE578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213D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7213D"/>
                </a:solidFill>
                <a:latin typeface="Aptos Display"/>
                <a:ea typeface="Aptos Display"/>
                <a:cs typeface="Aptos Display"/>
              </a:rPr>
              <a:t>Objetivos del proyecto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03E92E-AFCF-4F26-9039-AC0EE90D2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14500"/>
            <a:ext cx="3143250" cy="428625"/>
          </a:xfrm>
          <a:prstGeom xmlns:a="http://schemas.openxmlformats.org/drawingml/2006/main" prst="roundRect">
            <a:avLst>
              <a:gd name="adj" fmla="val 17778"/>
            </a:avLst>
          </a:prstGeom>
          <a:solidFill xmlns:a="http://schemas.openxmlformats.org/drawingml/2006/main">
            <a:srgbClr val="D9EEF2"/>
          </a:solidFill>
          <a:ln xmlns:a="http://schemas.openxmlformats.org/drawingml/2006/main" w="9525">
            <a:solidFill>
              <a:srgbClr val="247F95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47F95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47F95"/>
                </a:solidFill>
                <a:latin typeface="Aptos"/>
                <a:ea typeface="Aptos"/>
                <a:cs typeface="Aptos"/>
              </a:rPr>
              <a:t>OBJETIVO GENERAL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5F9103-BD09-493E-91FB-5A757FD72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33625"/>
            <a:ext cx="447675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47F95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7213D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213D"/>
                </a:solidFill>
                <a:latin typeface="Aptos"/>
                <a:ea typeface="Aptos"/>
                <a:cs typeface="Aptos"/>
              </a:rPr>
              <a:t>Desarrollar una plataforma web para crear, analizar y revisar formularios empresariales con apoyo de IA, control de acceso por roles y datos útiles para la toma de decisiones.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81890C-9CE3-4102-BAF0-DA88E46DA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714500"/>
            <a:ext cx="3429000" cy="428625"/>
          </a:xfrm>
          <a:prstGeom xmlns:a="http://schemas.openxmlformats.org/drawingml/2006/main" prst="roundRect">
            <a:avLst>
              <a:gd name="adj" fmla="val 17778"/>
            </a:avLst>
          </a:prstGeom>
          <a:solidFill xmlns:a="http://schemas.openxmlformats.org/drawingml/2006/main">
            <a:srgbClr val="E5EAF8"/>
          </a:solidFill>
          <a:ln xmlns:a="http://schemas.openxmlformats.org/drawingml/2006/main" w="9525">
            <a:solidFill>
              <a:srgbClr val="247F95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47F95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47F95"/>
                </a:solidFill>
                <a:latin typeface="Aptos"/>
                <a:ea typeface="Aptos"/>
                <a:cs typeface="Aptos"/>
              </a:rPr>
              <a:t>OBJETIVOS ESPECÍFICOS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FF6DF0-FC38-42EC-8E71-6D25B5611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333625"/>
            <a:ext cx="4476750" cy="1857375"/>
          </a:xfrm>
          <a:prstGeom xmlns:a="http://schemas.openxmlformats.org/drawingml/2006/main" prst="roundRect">
            <a:avLst>
              <a:gd name="adj" fmla="val 41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47F95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7213D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13D"/>
                </a:solidFill>
                <a:latin typeface="Aptos"/>
                <a:ea typeface="Aptos"/>
                <a:cs typeface="Aptos"/>
              </a:rPr>
              <a:t>01  Autenticación y permisos RLS</a:t>
            </a:r>
          </a:p>
          <a:p xmlns:a="http://schemas.openxmlformats.org/drawingml/2006/main">
            <a:pPr>
              <a:defRPr sz="1500" b="0">
                <a:solidFill>
                  <a:srgbClr val="17213D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13D"/>
                </a:solidFill>
                <a:latin typeface="Aptos"/>
                <a:ea typeface="Aptos"/>
                <a:cs typeface="Aptos"/>
              </a:rPr>
              <a:t>02  Constructor con validaciones</a:t>
            </a:r>
          </a:p>
          <a:p xmlns:a="http://schemas.openxmlformats.org/drawingml/2006/main">
            <a:pPr>
              <a:defRPr sz="1500" b="0">
                <a:solidFill>
                  <a:srgbClr val="17213D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13D"/>
                </a:solidFill>
                <a:latin typeface="Aptos"/>
                <a:ea typeface="Aptos"/>
                <a:cs typeface="Aptos"/>
              </a:rPr>
              <a:t>03  Creación y edición mediante IA</a:t>
            </a:r>
          </a:p>
          <a:p xmlns:a="http://schemas.openxmlformats.org/drawingml/2006/main">
            <a:pPr>
              <a:defRPr sz="1500" b="0">
                <a:solidFill>
                  <a:srgbClr val="17213D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13D"/>
                </a:solidFill>
                <a:latin typeface="Aptos"/>
                <a:ea typeface="Aptos"/>
                <a:cs typeface="Aptos"/>
              </a:rPr>
              <a:t>04  Validar información y decidir estados</a:t>
            </a:r>
          </a:p>
          <a:p xmlns:a="http://schemas.openxmlformats.org/drawingml/2006/main">
            <a:pPr>
              <a:defRPr sz="1500" b="0">
                <a:solidFill>
                  <a:srgbClr val="17213D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13D"/>
                </a:solidFill>
                <a:latin typeface="Aptos"/>
                <a:ea typeface="Aptos"/>
                <a:cs typeface="Aptos"/>
              </a:rPr>
              <a:t>05  Dashboards para analizar respuestas</a:t>
            </a:r>
          </a:p>
          <a:p xmlns:a="http://schemas.openxmlformats.org/drawingml/2006/main">
            <a:pPr>
              <a:defRPr sz="1500" b="0">
                <a:solidFill>
                  <a:srgbClr val="17213D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13D"/>
                </a:solidFill>
                <a:latin typeface="Aptos"/>
                <a:ea typeface="Aptos"/>
                <a:cs typeface="Aptos"/>
              </a:rPr>
              <a:t>06  Integración con APIs externas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F384DF-33F9-4A90-B225-BC07F71EB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286375"/>
            <a:ext cx="8096250" cy="400050"/>
          </a:xfrm>
          <a:prstGeom xmlns:a="http://schemas.openxmlformats.org/drawingml/2006/main" prst="roundRect">
            <a:avLst>
              <a:gd name="adj" fmla="val 19048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031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47F95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247F95"/>
                </a:solidFill>
                <a:latin typeface="Aptos"/>
                <a:ea typeface="Aptos"/>
                <a:cs typeface="Aptos"/>
              </a:rPr>
              <a:t>Resultado esperado: centralizar captura, análisis, revisión e integración con trazabilidad.</a:t>
            </a:r>
          </a:p>
        </p:txBody>
      </p:sp>
    </p:spTree>
    <p:extLst>
      <p:ext uri="{BB962C8B-B14F-4D97-AF65-F5344CB8AC3E}">
        <p14:creationId xmlns:p14="http://schemas.microsoft.com/office/powerpoint/2010/main" val="183336769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3F8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855374-95AF-46DA-8772-3D34D429B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47F9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47F95"/>
                </a:solidFill>
                <a:latin typeface="Aptos"/>
                <a:ea typeface="Aptos"/>
                <a:cs typeface="Aptos"/>
              </a:rPr>
              <a:t>FORMULARIOS INTELIGENTES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8C4FE1-95BD-4C32-A4E2-628F42421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213D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7213D"/>
                </a:solidFill>
                <a:latin typeface="Aptos Display"/>
                <a:ea typeface="Aptos Display"/>
                <a:cs typeface="Aptos Display"/>
              </a:rPr>
              <a:t>BackOffice convierte respuestas en decisiones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36FE73-A2A1-4BC6-911B-FEC2F222A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14500"/>
            <a:ext cx="7620000" cy="381000"/>
          </a:xfrm>
          <a:prstGeom xmlns:a="http://schemas.openxmlformats.org/drawingml/2006/main" prst="roundRect">
            <a:avLst>
              <a:gd name="adj" fmla="val 20000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284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213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213D"/>
                </a:solidFill>
                <a:latin typeface="Aptos"/>
                <a:ea typeface="Aptos"/>
                <a:cs typeface="Aptos"/>
              </a:rPr>
              <a:t>Cada envío se identifica y se revisa de forma independiente.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F85EBB-69D2-4828-9E0D-353FCDAC8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62250"/>
            <a:ext cx="18097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5F4EF"/>
          </a:solidFill>
          <a:ln xmlns:a="http://schemas.openxmlformats.org/drawingml/2006/main" w="9525">
            <a:solidFill>
              <a:srgbClr val="247F95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13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13D"/>
                </a:solidFill>
                <a:latin typeface="Aptos"/>
                <a:ea typeface="Aptos"/>
                <a:cs typeface="Aptos"/>
              </a:rPr>
              <a:t>1</a:t>
            </a:r>
          </a:p>
          <a:p xmlns:a="http://schemas.openxmlformats.org/drawingml/2006/main">
            <a:pPr>
              <a:defRPr sz="1500" b="1">
                <a:solidFill>
                  <a:srgbClr val="17213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13D"/>
                </a:solidFill>
                <a:latin typeface="Aptos"/>
                <a:ea typeface="Aptos"/>
                <a:cs typeface="Aptos"/>
              </a:rPr>
              <a:t>INGRESADO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4FECCE-DC8E-4B64-9010-4D5F92DFF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000375"/>
            <a:ext cx="523875" cy="428625"/>
          </a:xfrm>
          <a:prstGeom xmlns:a="http://schemas.openxmlformats.org/drawingml/2006/main" prst="roundRect">
            <a:avLst>
              <a:gd name="adj" fmla="val 17778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316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47F95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247F95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A6BB9E-6611-456B-A60E-FD87F2DEE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619375"/>
            <a:ext cx="19050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E8EEF7"/>
          </a:solidFill>
          <a:ln xmlns:a="http://schemas.openxmlformats.org/drawingml/2006/main" w="9525">
            <a:solidFill>
              <a:srgbClr val="247F95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13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13D"/>
                </a:solidFill>
                <a:latin typeface="Aptos"/>
                <a:ea typeface="Aptos"/>
                <a:cs typeface="Aptos"/>
              </a:rPr>
              <a:t>2</a:t>
            </a:r>
          </a:p>
          <a:p xmlns:a="http://schemas.openxmlformats.org/drawingml/2006/main">
            <a:pPr>
              <a:defRPr sz="1500" b="1">
                <a:solidFill>
                  <a:srgbClr val="17213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13D"/>
                </a:solidFill>
                <a:latin typeface="Aptos"/>
                <a:ea typeface="Aptos"/>
                <a:cs typeface="Aptos"/>
              </a:rPr>
              <a:t>INICIAR</a:t>
            </a:r>
          </a:p>
          <a:p xmlns:a="http://schemas.openxmlformats.org/drawingml/2006/main">
            <a:pPr>
              <a:defRPr sz="1500" b="1">
                <a:solidFill>
                  <a:srgbClr val="17213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13D"/>
                </a:solidFill>
                <a:latin typeface="Aptos"/>
                <a:ea typeface="Aptos"/>
                <a:cs typeface="Aptos"/>
              </a:rPr>
              <a:t>REVISIÓN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BA9408-B1DC-4784-A27D-B9F92DCCE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3000375"/>
            <a:ext cx="523875" cy="428625"/>
          </a:xfrm>
          <a:prstGeom xmlns:a="http://schemas.openxmlformats.org/drawingml/2006/main" prst="roundRect">
            <a:avLst>
              <a:gd name="adj" fmla="val 17778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316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47F95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247F95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05784D-BB44-465F-AB90-89D4DDCA1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762250"/>
            <a:ext cx="19050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8EEF7"/>
          </a:solidFill>
          <a:ln xmlns:a="http://schemas.openxmlformats.org/drawingml/2006/main" w="9525">
            <a:solidFill>
              <a:srgbClr val="247F95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13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13D"/>
                </a:solidFill>
                <a:latin typeface="Aptos"/>
                <a:ea typeface="Aptos"/>
                <a:cs typeface="Aptos"/>
              </a:rPr>
              <a:t>3</a:t>
            </a:r>
          </a:p>
          <a:p xmlns:a="http://schemas.openxmlformats.org/drawingml/2006/main">
            <a:pPr>
              <a:defRPr sz="1500" b="1">
                <a:solidFill>
                  <a:srgbClr val="17213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13D"/>
                </a:solidFill>
                <a:latin typeface="Aptos"/>
                <a:ea typeface="Aptos"/>
                <a:cs typeface="Aptos"/>
              </a:rPr>
              <a:t>EN REVISIÓN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7E4599-FD7B-4491-A510-744D0707C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4000500"/>
            <a:ext cx="428625" cy="428625"/>
          </a:xfrm>
          <a:prstGeom xmlns:a="http://schemas.openxmlformats.org/drawingml/2006/main" prst="roundRect">
            <a:avLst>
              <a:gd name="adj" fmla="val 17778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316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47F95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247F95"/>
                </a:solidFill>
                <a:latin typeface="Aptos"/>
                <a:ea typeface="Aptos"/>
                <a:cs typeface="Aptos"/>
              </a:rPr>
              <a:t>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818F34-0E9C-4E4D-A74F-1913BC7F1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810125"/>
            <a:ext cx="2000250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DDF3EA"/>
          </a:solidFill>
          <a:ln xmlns:a="http://schemas.openxmlformats.org/drawingml/2006/main" w="9525">
            <a:solidFill>
              <a:srgbClr val="277A63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77A6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277A63"/>
                </a:solidFill>
                <a:latin typeface="Aptos"/>
                <a:ea typeface="Aptos"/>
                <a:cs typeface="Aptos"/>
              </a:rPr>
              <a:t>APROBAR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CE1F94-5374-4F53-9568-FD0934B48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810125"/>
            <a:ext cx="2000250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8E2E2"/>
          </a:solidFill>
          <a:ln xmlns:a="http://schemas.openxmlformats.org/drawingml/2006/main" w="9525">
            <a:solidFill>
              <a:srgbClr val="B45353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B4535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B45353"/>
                </a:solidFill>
                <a:latin typeface="Aptos"/>
                <a:ea typeface="Aptos"/>
                <a:cs typeface="Aptos"/>
              </a:rPr>
              <a:t>RECHAZAR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20896A-9A04-49EE-836F-A5A4161AC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953125"/>
            <a:ext cx="7143750" cy="333375"/>
          </a:xfrm>
          <a:prstGeom xmlns:a="http://schemas.openxmlformats.org/drawingml/2006/main" prst="roundRect">
            <a:avLst>
              <a:gd name="adj" fmla="val 22857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85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Ambas decisiones solicitan observación y dejan trazabilidad del cambio.</a:t>
            </a:r>
          </a:p>
        </p:txBody>
      </p:sp>
    </p:spTree>
    <p:extLst>
      <p:ext uri="{BB962C8B-B14F-4D97-AF65-F5344CB8AC3E}">
        <p14:creationId xmlns:p14="http://schemas.microsoft.com/office/powerpoint/2010/main" val="45798244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3F8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1ECC8F0-283D-44A0-818D-7C95C4F23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47F9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47F95"/>
                </a:solidFill>
                <a:latin typeface="Aptos"/>
                <a:ea typeface="Aptos"/>
                <a:cs typeface="Aptos"/>
              </a:rPr>
              <a:t>FORMULARIOS INTELIGENTES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DB1EE5-F4D2-4020-8904-2161FA576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213D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7213D"/>
                </a:solidFill>
                <a:latin typeface="Aptos Display"/>
                <a:ea typeface="Aptos Display"/>
                <a:cs typeface="Aptos Display"/>
              </a:rPr>
              <a:t>Matriz comparativa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8EFB72-4EC4-410A-BCA4-C814E2A03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23812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47F95"/>
          </a:solidFill>
          <a:ln xmlns:a="http://schemas.openxmlformats.org/drawingml/2006/main" w="9525">
            <a:solidFill>
              <a:srgbClr val="247F95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Criterio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4777D2-3F55-44D3-B58A-E7351B666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714500"/>
            <a:ext cx="23812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47F95"/>
          </a:solidFill>
          <a:ln xmlns:a="http://schemas.openxmlformats.org/drawingml/2006/main" w="9525">
            <a:solidFill>
              <a:srgbClr val="247F95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Google Forms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21CAEF-1A0C-4A46-BAA7-B4E67B0A4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71450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47F95"/>
          </a:solidFill>
          <a:ln xmlns:a="http://schemas.openxmlformats.org/drawingml/2006/main" w="9525">
            <a:solidFill>
              <a:srgbClr val="247F95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Typeform / Jotform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31A790-B648-41BE-9527-BE549F7E8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714500"/>
            <a:ext cx="2857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47F95"/>
          </a:solidFill>
          <a:ln xmlns:a="http://schemas.openxmlformats.org/drawingml/2006/main" w="9525">
            <a:solidFill>
              <a:srgbClr val="247F95"/>
            </a:solidFill>
          </a:ln>
        </p:spPr>
        <p:txBody>
          <a:bodyPr xmlns:a="http://schemas.openxmlformats.org/drawingml/2006/main" anchor="ctr">
            <a:normAutofit fontScale="78041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Formularios</a:t>
            </a:r>
          </a:p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Inteligentes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3F8C7E-8148-4DD0-B5F4-BE2E6BB1E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33625"/>
            <a:ext cx="2381250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E5EAF8"/>
          </a:solidFill>
          <a:ln xmlns:a="http://schemas.openxmlformats.org/drawingml/2006/main" w="9525">
            <a:solidFill>
              <a:srgbClr val="247F95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213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13D"/>
                </a:solidFill>
                <a:latin typeface="Aptos"/>
                <a:ea typeface="Aptos"/>
                <a:cs typeface="Aptos"/>
              </a:rPr>
              <a:t>Creación con IA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221CB6-F6DA-46C4-B997-ADC1A7561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333625"/>
            <a:ext cx="2381250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47F95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13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13D"/>
                </a:solidFill>
                <a:latin typeface="Aptos"/>
                <a:ea typeface="Aptos"/>
                <a:cs typeface="Aptos"/>
              </a:rPr>
              <a:t>Limitada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6E4048-A53F-4F2D-B96C-CDF1F9CA6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333625"/>
            <a:ext cx="2667000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47F95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13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13D"/>
                </a:solidFill>
                <a:latin typeface="Aptos"/>
                <a:ea typeface="Aptos"/>
                <a:cs typeface="Aptos"/>
              </a:rPr>
              <a:t>Disponible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DC27F8-D0DD-4E71-AB52-4C2016BEA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333625"/>
            <a:ext cx="2857500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D9EEF2"/>
          </a:solidFill>
          <a:ln xmlns:a="http://schemas.openxmlformats.org/drawingml/2006/main" w="9525">
            <a:solidFill>
              <a:srgbClr val="247F95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213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13D"/>
                </a:solidFill>
                <a:latin typeface="Aptos"/>
                <a:ea typeface="Aptos"/>
                <a:cs typeface="Aptos"/>
              </a:rPr>
              <a:t>Creación y edición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BD6033-B215-4D44-824B-0F73212A1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00375"/>
            <a:ext cx="2381250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E5EAF8"/>
          </a:solidFill>
          <a:ln xmlns:a="http://schemas.openxmlformats.org/drawingml/2006/main" w="9525">
            <a:solidFill>
              <a:srgbClr val="247F95"/>
            </a:solidFill>
          </a:ln>
        </p:spPr>
        <p:txBody>
          <a:bodyPr xmlns:a="http://schemas.openxmlformats.org/drawingml/2006/main" anchor="ctr">
            <a:normAutofit fontScale="9424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213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13D"/>
                </a:solidFill>
                <a:latin typeface="Aptos"/>
                <a:ea typeface="Aptos"/>
                <a:cs typeface="Aptos"/>
              </a:rPr>
              <a:t>Permisos por departamento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DF558E-1441-462D-8596-E748860D2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000375"/>
            <a:ext cx="2381250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47F95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13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13D"/>
                </a:solidFill>
                <a:latin typeface="Aptos"/>
                <a:ea typeface="Aptos"/>
                <a:cs typeface="Aptos"/>
              </a:rPr>
              <a:t>Básicos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A0B3FF-EEF3-470F-ADA1-C6E662555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000375"/>
            <a:ext cx="2667000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47F95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13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13D"/>
                </a:solidFill>
                <a:latin typeface="Aptos"/>
                <a:ea typeface="Aptos"/>
                <a:cs typeface="Aptos"/>
              </a:rPr>
              <a:t>Según plataforma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3C473F-4335-46B8-8E0B-CD5D64451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00375"/>
            <a:ext cx="2857500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D9EEF2"/>
          </a:solidFill>
          <a:ln xmlns:a="http://schemas.openxmlformats.org/drawingml/2006/main" w="9525">
            <a:solidFill>
              <a:srgbClr val="247F95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213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13D"/>
                </a:solidFill>
                <a:latin typeface="Aptos"/>
                <a:ea typeface="Aptos"/>
                <a:cs typeface="Aptos"/>
              </a:rPr>
              <a:t>Roles + RLS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99A23D-4B0A-401A-929B-39E1875B4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67125"/>
            <a:ext cx="2381250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E5EAF8"/>
          </a:solidFill>
          <a:ln xmlns:a="http://schemas.openxmlformats.org/drawingml/2006/main" w="9525">
            <a:solidFill>
              <a:srgbClr val="247F95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213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13D"/>
                </a:solidFill>
                <a:latin typeface="Aptos"/>
                <a:ea typeface="Aptos"/>
                <a:cs typeface="Aptos"/>
              </a:rPr>
              <a:t>Revisión y estados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DBDD2F-25EB-4A85-93C3-85F9784EF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667125"/>
            <a:ext cx="2381250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47F95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13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13D"/>
                </a:solidFill>
                <a:latin typeface="Aptos"/>
                <a:ea typeface="Aptos"/>
                <a:cs typeface="Aptos"/>
              </a:rPr>
              <a:t>No especializada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1A9B72-AB0C-4A7F-9AC0-D680B573D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667125"/>
            <a:ext cx="2667000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47F95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13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13D"/>
                </a:solidFill>
                <a:latin typeface="Aptos"/>
                <a:ea typeface="Aptos"/>
                <a:cs typeface="Aptos"/>
              </a:rPr>
              <a:t>Automatizaciones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43AC2C9-396E-419D-A731-E811F68B5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667125"/>
            <a:ext cx="2857500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D9EEF2"/>
          </a:solidFill>
          <a:ln xmlns:a="http://schemas.openxmlformats.org/drawingml/2006/main" w="9525">
            <a:solidFill>
              <a:srgbClr val="247F95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213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13D"/>
                </a:solidFill>
                <a:latin typeface="Aptos"/>
                <a:ea typeface="Aptos"/>
                <a:cs typeface="Aptos"/>
              </a:rPr>
              <a:t>Bandeja BackOffice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6A8D39-05B3-4175-A8B1-8671242A9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33875"/>
            <a:ext cx="2381250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E5EAF8"/>
          </a:solidFill>
          <a:ln xmlns:a="http://schemas.openxmlformats.org/drawingml/2006/main" w="9525">
            <a:solidFill>
              <a:srgbClr val="247F95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213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13D"/>
                </a:solidFill>
                <a:latin typeface="Aptos"/>
                <a:ea typeface="Aptos"/>
                <a:cs typeface="Aptos"/>
              </a:rPr>
              <a:t>Enfoque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29B8EAA-FCA8-4B3C-A4EA-AEB2AB6D6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333875"/>
            <a:ext cx="2381250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47F95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13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13D"/>
                </a:solidFill>
                <a:latin typeface="Aptos"/>
                <a:ea typeface="Aptos"/>
                <a:cs typeface="Aptos"/>
              </a:rPr>
              <a:t>Formularios generales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23D16EB-8F77-4C44-8573-6F2A9E029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333875"/>
            <a:ext cx="2667000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47F95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13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13D"/>
                </a:solidFill>
                <a:latin typeface="Aptos"/>
                <a:ea typeface="Aptos"/>
                <a:cs typeface="Aptos"/>
              </a:rPr>
              <a:t>Experiencia y analítica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56657C1-B493-4CA2-A03E-B0BD70A44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333875"/>
            <a:ext cx="2857500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D9EEF2"/>
          </a:solidFill>
          <a:ln xmlns:a="http://schemas.openxmlformats.org/drawingml/2006/main" w="9525">
            <a:solidFill>
              <a:srgbClr val="247F95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213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13D"/>
                </a:solidFill>
                <a:latin typeface="Aptos"/>
                <a:ea typeface="Aptos"/>
                <a:cs typeface="Aptos"/>
              </a:rPr>
              <a:t>Flujo empresarial completo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C7EF11E-A7D2-4330-87D9-A45976CB9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10250"/>
            <a:ext cx="8572500" cy="238125"/>
          </a:xfrm>
          <a:prstGeom xmlns:a="http://schemas.openxmlformats.org/drawingml/2006/main" prst="roundRect">
            <a:avLst>
              <a:gd name="adj" fmla="val 32000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8678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Fuentes: Google Forms, Typeform y Jotform, consultadas en septiembre de 2026.</a:t>
            </a:r>
          </a:p>
        </p:txBody>
      </p:sp>
    </p:spTree>
    <p:extLst>
      <p:ext uri="{BB962C8B-B14F-4D97-AF65-F5344CB8AC3E}">
        <p14:creationId xmlns:p14="http://schemas.microsoft.com/office/powerpoint/2010/main" val="121593407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2026-09-17T18:45:58.0700000Z</dcterms:created>
  <dcterms:modified xsi:type="dcterms:W3CDTF">2026-09-17T18:45:58.0700000Z</dcterms:modified>
</coreProperties>
</file>